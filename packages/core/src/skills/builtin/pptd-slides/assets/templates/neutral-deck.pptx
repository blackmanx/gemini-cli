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D3D9E0"/>
            </a:solidFill>
          </c:spPr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21</c:v>
                </c:pt>
                <c:pt idx="3">
                  <c:v>25</c:v>
                </c:pt>
                <c:pt idx="4">
                  <c:v>27</c:v>
                </c:pt>
                <c:pt idx="5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change</c:v>
                </c:pt>
              </c:strCache>
            </c:strRef>
          </c:tx>
          <c:spPr>
            <a:solidFill>
              <a:srgbClr val="2E6BE6"/>
            </a:solidFill>
          </c:spPr>
          <c:cat>
            <c:strRef>
              <c:f>Sheet1!$A$2:$A$7</c:f>
              <c:strCache>
                <c:ptCount val="6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22</c:v>
                </c:pt>
                <c:pt idx="2">
                  <c:v>30</c:v>
                </c:pt>
                <c:pt idx="3">
                  <c:v>38</c:v>
                </c:pt>
                <c:pt idx="4">
                  <c:v>47</c:v>
                </c:pt>
                <c:pt idx="5">
                  <c:v>58</c:v>
                </c:pt>
              </c:numCache>
            </c:numRef>
          </c:val>
        </c:ser>
        <c:gapWidth val="6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002"/>
        <c:crosses val="autoZero"/>
        <c:auto val="1"/>
        <c:lblAlgn val="ctr"/>
        <c:lblOffset val="100"/>
        <c:noMultiLvlLbl val="0"/>
      </c:catAx>
      <c:valAx>
        <c:axId val="100000002"/>
        <c:scaling/>
        <c:delete val="0"/>
        <c:axPos val="l"/>
        <c:majorGridlines/>
        <c:majorTickMark val="out"/>
        <c:minorTickMark val="none"/>
        <c:tickLblPos val="nextTo"/>
        <c:crossAx val="100000001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6BE6"/>
                </a:solidFill>
                <a:latin typeface="Calibri"/>
              </a:rPr>
              <a:t>PROJECT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6212B"/>
                </a:solidFill>
                <a:latin typeface="Calibri"/>
              </a:rPr>
              <a:t>Title of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9"/>
                </a:solidFill>
                <a:latin typeface="Calibri"/>
              </a:rPr>
              <a:t>One line that says what this deck answers, in plain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14630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Calibri"/>
              </a:rPr>
              <a:t>Author · Team          Date          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7465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28216"/>
            <a:ext cx="4358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212B"/>
                </a:solidFill>
                <a:latin typeface="Calibri"/>
              </a:rPr>
              <a:t>Context and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7568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Calibri"/>
              </a:rPr>
              <a:t>One sentence about this section.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743200"/>
            <a:ext cx="384048" cy="384048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27980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9776"/>
            <a:ext cx="4358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212B"/>
                </a:solidFill>
                <a:latin typeface="Calibri"/>
              </a:rPr>
              <a:t>What we propose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2724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Calibri"/>
              </a:rPr>
              <a:t>One sentence about this section.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8496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31336"/>
            <a:ext cx="4358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212B"/>
                </a:solidFill>
                <a:latin typeface="Calibri"/>
              </a:rPr>
              <a:t>How it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7880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Calibri"/>
              </a:rPr>
              <a:t>One sentence about this section.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370167" y="1691640"/>
            <a:ext cx="384048" cy="384048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70167" y="17465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4527" y="1728216"/>
            <a:ext cx="4358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212B"/>
                </a:solidFill>
                <a:latin typeface="Calibri"/>
              </a:rPr>
              <a:t>Results so 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4527" y="207568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Calibri"/>
              </a:rPr>
              <a:t>One sentence about this section.</a:t>
            </a:r>
          </a:p>
        </p:txBody>
      </p:sp>
      <p:sp>
        <p:nvSpPr>
          <p:cNvPr id="25" name="Oval 24"/>
          <p:cNvSpPr/>
          <p:nvPr/>
        </p:nvSpPr>
        <p:spPr>
          <a:xfrm>
            <a:off x="6370167" y="2743200"/>
            <a:ext cx="384048" cy="384048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70167" y="27980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4527" y="2779776"/>
            <a:ext cx="43584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6212B"/>
                </a:solidFill>
                <a:latin typeface="Calibri"/>
              </a:rPr>
              <a:t>Plan and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4527" y="3127248"/>
            <a:ext cx="43584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B8794"/>
                </a:solidFill>
                <a:latin typeface="Calibri"/>
              </a:rPr>
              <a:t>One sentence about this section.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3D9E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6212B"/>
                </a:solidFill>
                <a:latin typeface="Calibri"/>
              </a:rPr>
              <a:t>Context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9"/>
                </a:solidFill>
                <a:latin typeface="Calibri"/>
              </a:rPr>
              <a:t>What the situation is, and what this section has to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Two ideas, side by 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4998567" cy="254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2B"/>
                </a:solidFill>
                <a:latin typeface="Calibri"/>
              </a:rPr>
              <a:t>Where we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99856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4C59"/>
                </a:solidFill>
                <a:latin typeface="Calibri"/>
              </a:rPr>
              <a:t>Two or three sentences of context. Keep the paragraph to the width of the column and let the second one carry the counterpart.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1691640"/>
            <a:ext cx="4998567" cy="254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0167" y="192024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2B"/>
                </a:solidFill>
                <a:latin typeface="Calibri"/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468880"/>
            <a:ext cx="499856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E4C59"/>
                </a:solidFill>
                <a:latin typeface="Calibri"/>
              </a:rPr>
              <a:t>The consequence of the first column, stated plainly. A reader should be able to stop here and still follow the argument.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Three parts of the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3271418" cy="31089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3271418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2103120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12B"/>
                </a:solidFill>
                <a:latin typeface="Calibri"/>
              </a:rPr>
              <a:t>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60320"/>
            <a:ext cx="263133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What it is, in one clause that fits the card.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0138" y="1691640"/>
            <a:ext cx="3271418" cy="31089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460138" y="1691640"/>
            <a:ext cx="3271418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80178" y="2103120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12B"/>
                </a:solidFill>
                <a:latin typeface="Calibri"/>
              </a:rPr>
              <a:t>Second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0178" y="2560320"/>
            <a:ext cx="263133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The middle part, with its own one-clause description.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691640"/>
            <a:ext cx="3271418" cy="310896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7316" y="1691640"/>
            <a:ext cx="3271418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7356" y="2103120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12B"/>
                </a:solidFill>
                <a:latin typeface="Calibri"/>
              </a:rPr>
              <a:t>Third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560320"/>
            <a:ext cx="263133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The closing part of the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What happens, step by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65836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E4C59"/>
                </a:solidFill>
                <a:latin typeface="Calibri"/>
              </a:rPr>
              <a:t>•  First step, stated as an action.</a:t>
            </a:r>
          </a:p>
          <a:p>
            <a:pPr algn="l" lv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7B8794"/>
                </a:solidFill>
                <a:latin typeface="Calibri"/>
              </a:rPr>
              <a:t>–  A detail that belongs to it.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E4C59"/>
                </a:solidFill>
                <a:latin typeface="Calibri"/>
              </a:rPr>
              <a:t>•  Second step, with its own outcome.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E4C59"/>
                </a:solidFill>
                <a:latin typeface="Calibri"/>
              </a:rPr>
              <a:t>•  Third step, and what it produces.</a:t>
            </a:r>
          </a:p>
          <a:p>
            <a:pPr algn="l" lv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7B8794"/>
                </a:solidFill>
                <a:latin typeface="Calibri"/>
              </a:rPr>
              <a:t>–  One clarification, if the reader needs it.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E4C59"/>
                </a:solidFill>
                <a:latin typeface="Calibri"/>
              </a:rPr>
              <a:t>•  What is explicitly out of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91640"/>
            <a:ext cx="3566160" cy="356616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68880"/>
            <a:ext cx="2834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A short aside the reader should not miss. It is the only box of its kind in the deck, so it reads as an aside and not as a card.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Four numbers that matter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22706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E6BE6"/>
                </a:solidFill>
                <a:latin typeface="Calibri"/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2706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Share of the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2243" y="1691640"/>
            <a:ext cx="12700" cy="1737360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59403" y="1691640"/>
            <a:ext cx="22706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2A594"/>
                </a:solidFill>
                <a:latin typeface="Calibri"/>
              </a:rPr>
              <a:t>1.2M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2743200"/>
            <a:ext cx="22706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Records processed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58687" y="1691640"/>
            <a:ext cx="12700" cy="1737360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95847" y="1691640"/>
            <a:ext cx="22706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E6BE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43200"/>
            <a:ext cx="22706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Partners involved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131" y="1691640"/>
            <a:ext cx="12700" cy="1737360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32291" y="1691640"/>
            <a:ext cx="227068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2A594"/>
                </a:solidFill>
                <a:latin typeface="Calibr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291" y="2743200"/>
            <a:ext cx="22706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Months of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B8794"/>
                </a:solidFill>
                <a:latin typeface="Calibri"/>
              </a:rPr>
              <a:t>One line on where the numbers come from, so they can be checked.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Trend over the last six periods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691640"/>
          <a:ext cx="78638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052560" y="1691640"/>
            <a:ext cx="2286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6BE6"/>
                </a:solidFill>
                <a:latin typeface="Calibri"/>
              </a:rPr>
              <a:t>Read this 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The gap opens in P2 and keeps widening, so the effect is not a one-period blip.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10545775" cy="25400"/>
          </a:xfrm>
          <a:prstGeom prst="rect">
            <a:avLst/>
          </a:prstGeom>
          <a:solidFill>
            <a:srgbClr val="D3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40664" y="3364992"/>
            <a:ext cx="164592" cy="164592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2B"/>
                </a:solidFill>
                <a:latin typeface="Calibr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Setup and baseline</a:t>
            </a:r>
          </a:p>
        </p:txBody>
      </p:sp>
      <p:sp>
        <p:nvSpPr>
          <p:cNvPr id="13" name="Oval 12"/>
          <p:cNvSpPr/>
          <p:nvPr/>
        </p:nvSpPr>
        <p:spPr>
          <a:xfrm>
            <a:off x="3377107" y="3364992"/>
            <a:ext cx="164592" cy="164592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67963" y="27432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2B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963" y="37490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First pilot</a:t>
            </a:r>
          </a:p>
        </p:txBody>
      </p:sp>
      <p:sp>
        <p:nvSpPr>
          <p:cNvPr id="16" name="Oval 15"/>
          <p:cNvSpPr/>
          <p:nvPr/>
        </p:nvSpPr>
        <p:spPr>
          <a:xfrm>
            <a:off x="6013551" y="3364992"/>
            <a:ext cx="164592" cy="164592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04407" y="27432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2B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4407" y="37490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Second pilot</a:t>
            </a:r>
          </a:p>
        </p:txBody>
      </p:sp>
      <p:sp>
        <p:nvSpPr>
          <p:cNvPr id="19" name="Oval 18"/>
          <p:cNvSpPr/>
          <p:nvPr/>
        </p:nvSpPr>
        <p:spPr>
          <a:xfrm>
            <a:off x="8649995" y="3364992"/>
            <a:ext cx="164592" cy="164592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40851" y="27432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12B"/>
                </a:solidFill>
                <a:latin typeface="Calibri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851" y="37490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E4C59"/>
                </a:solidFill>
                <a:latin typeface="Calibri"/>
              </a:rPr>
              <a:t>Consolidation and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691640"/>
          <a:ext cx="10561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51760"/>
                <a:gridCol w="2651760"/>
                <a:gridCol w="2148840"/>
              </a:tblGrid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109728" marR="109728">
                    <a:solidFill>
                      <a:srgbClr val="1621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Option A</a:t>
                      </a:r>
                    </a:p>
                  </a:txBody>
                  <a:tcPr anchor="ctr" marL="109728" marR="109728">
                    <a:solidFill>
                      <a:srgbClr val="1621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Option B</a:t>
                      </a:r>
                    </a:p>
                  </a:txBody>
                  <a:tcPr anchor="ctr" marL="109728" marR="109728">
                    <a:solidFill>
                      <a:srgbClr val="1621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 marL="109728" marR="109728">
                    <a:solidFill>
                      <a:srgbClr val="16212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6212B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Narrow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Broad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6212B"/>
                          </a:solidFill>
                          <a:latin typeface="Calibri"/>
                        </a:rPr>
                        <a:t>Broad, phased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6212B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6212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6212B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6212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109728" marR="109728">
                    <a:solidFill>
                      <a:srgbClr val="F4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6212B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E4C5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6212B"/>
                          </a:solidFill>
                          <a:latin typeface="Calibri"/>
                        </a:rPr>
                        <a:t>Option B, phased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4983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B8794"/>
                </a:solidFill>
                <a:latin typeface="Calibri"/>
              </a:rPr>
              <a:t>Table 1. Comparison used to take the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Programme · Area ·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274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B8794"/>
                </a:solidFill>
                <a:latin typeface="Calibri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Confidential — internal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BE6"/>
                </a:solidFill>
                <a:latin typeface="Calibri"/>
              </a:rPr>
              <a:t>IN THEIR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2B"/>
                </a:solidFill>
                <a:latin typeface="Calibri"/>
              </a:rPr>
              <a:t>What the users said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91056"/>
            <a:ext cx="1005840" cy="381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97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D3D9E0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9509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16212B"/>
                </a:solidFill>
                <a:latin typeface="Calibri"/>
              </a:rPr>
              <a:t>A quotation that carries the point on its own, long enough to sound like a person and short enough to be read from the back of the room.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434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B8794"/>
                </a:solidFill>
                <a:latin typeface="Calibri"/>
              </a:rPr>
              <a:t>Role, organisation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D2DC"/>
                </a:solidFill>
                <a:latin typeface="Calibri"/>
              </a:rPr>
              <a:t>Questions, and what we need from you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34840"/>
            <a:ext cx="1463040" cy="381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5B1"/>
                </a:solidFill>
                <a:latin typeface="Calibri"/>
              </a:rPr>
              <a:t>name@example.com          +00 000 000 000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B879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